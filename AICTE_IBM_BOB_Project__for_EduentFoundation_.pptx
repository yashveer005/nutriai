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0" d="100"/>
          <a:sy n="70" d="100"/>
        </p:scale>
        <p:origin x="906"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Yashveer005/NutriAI"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6197416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dirty="0"/>
                        <a:t>Yashveer Singh</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     </a:t>
                      </a:r>
                    </a:p>
                    <a:p>
                      <a:pPr marL="0" marR="0" lvl="0" indent="0" algn="l" rtl="0">
                        <a:spcBef>
                          <a:spcPts val="0"/>
                        </a:spcBef>
                        <a:spcAft>
                          <a:spcPts val="0"/>
                        </a:spcAft>
                        <a:buNone/>
                      </a:pPr>
                      <a:endParaRPr lang="en-US" sz="1800" dirty="0"/>
                    </a:p>
                    <a:p>
                      <a:pPr marL="0" marR="0" lvl="0" indent="0" algn="l" rtl="0">
                        <a:spcBef>
                          <a:spcPts val="0"/>
                        </a:spcBef>
                        <a:spcAft>
                          <a:spcPts val="0"/>
                        </a:spcAft>
                        <a:buNone/>
                      </a:pPr>
                      <a:r>
                        <a:rPr lang="en-US" sz="1800" dirty="0"/>
                        <a:t> </a:t>
                      </a: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ctr" rtl="0">
                        <a:spcBef>
                          <a:spcPts val="0"/>
                        </a:spcBef>
                        <a:spcAft>
                          <a:spcPts val="0"/>
                        </a:spcAft>
                        <a:buNone/>
                      </a:pPr>
                      <a:r>
                        <a:rPr lang="en-IN" dirty="0"/>
                        <a:t>yashveersingh0785@gmail.com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endParaRPr lang="en-IN" dirty="0"/>
                    </a:p>
                    <a:p>
                      <a:pPr marL="0" marR="0" lvl="0" indent="0" algn="ctr" rtl="0">
                        <a:spcBef>
                          <a:spcPts val="0"/>
                        </a:spcBef>
                        <a:spcAft>
                          <a:spcPts val="0"/>
                        </a:spcAft>
                        <a:buNone/>
                      </a:pPr>
                      <a:r>
                        <a:rPr lang="en-IN" dirty="0"/>
                        <a:t>9315002967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t>
            </a:r>
            <a:r>
              <a:rPr lang="en-IN" sz="2400" b="1" dirty="0">
                <a:highlight>
                  <a:srgbClr val="FFFF00"/>
                </a:highlight>
              </a:rPr>
              <a:t>Healthcare / Nutrition &amp; Wellness</a:t>
            </a:r>
            <a:r>
              <a:rPr lang="en-US" sz="2400" b="1" dirty="0">
                <a:highlight>
                  <a:srgbClr val="FFFF00"/>
                </a:highlight>
              </a:rPr>
              <a:t>]</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b="1" dirty="0" err="1">
                <a:highlight>
                  <a:srgbClr val="FFFF00"/>
                </a:highlight>
              </a:rPr>
              <a:t>NutriAI</a:t>
            </a:r>
            <a:r>
              <a:rPr lang="en-IN" sz="2400" b="1" dirty="0">
                <a:highlight>
                  <a:srgbClr val="FFFF00"/>
                </a:highlight>
              </a:rPr>
              <a:t> – Smart Nutrition Agent</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pic>
        <p:nvPicPr>
          <p:cNvPr id="5" name="Picture 4">
            <a:extLst>
              <a:ext uri="{FF2B5EF4-FFF2-40B4-BE49-F238E27FC236}">
                <a16:creationId xmlns:a16="http://schemas.microsoft.com/office/drawing/2014/main" id="{A7826BCC-A66A-BB4C-8530-DC924A3A3E7F}"/>
              </a:ext>
            </a:extLst>
          </p:cNvPr>
          <p:cNvPicPr>
            <a:picLocks noChangeAspect="1"/>
          </p:cNvPicPr>
          <p:nvPr/>
        </p:nvPicPr>
        <p:blipFill>
          <a:blip r:embed="rId3"/>
          <a:stretch>
            <a:fillRect/>
          </a:stretch>
        </p:blipFill>
        <p:spPr>
          <a:xfrm>
            <a:off x="4004680" y="3683879"/>
            <a:ext cx="1027630" cy="998151"/>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Nutrition Agent</a:t>
            </a:r>
            <a:r>
              <a:rPr lang="en-US" dirty="0"/>
              <a:t> </a:t>
            </a:r>
          </a:p>
          <a:p>
            <a:pPr fontAlgn="base"/>
            <a:endParaRPr lang="en-US" b="1" dirty="0"/>
          </a:p>
          <a:p>
            <a:pPr fontAlgn="base"/>
            <a:r>
              <a:rPr lang="en-US" b="1" dirty="0"/>
              <a:t>The Challenge</a:t>
            </a:r>
            <a:r>
              <a:rPr lang="en-US" dirty="0"/>
              <a:t> </a:t>
            </a:r>
          </a:p>
          <a:p>
            <a:pPr fontAlgn="base"/>
            <a:r>
              <a:rPr lang="en-US" dirty="0"/>
              <a:t>Good nutrition is the foundation of health, but individuals often struggle with </a:t>
            </a:r>
            <a:r>
              <a:rPr lang="en-US" b="1" dirty="0"/>
              <a:t>diet planning, portion control, and tracking nutritional intake</a:t>
            </a:r>
            <a:r>
              <a:rPr lang="en-US" dirty="0"/>
              <a:t>. Information about healthy diets, disease-specific nutrition, and food composition is scattered across unreliable sources. Without </a:t>
            </a:r>
            <a:r>
              <a:rPr lang="en-US" b="1" dirty="0"/>
              <a:t>personalized, real-time guidance</a:t>
            </a:r>
            <a:r>
              <a:rPr lang="en-US" dirty="0"/>
              <a:t>, many fail to maintain balanced diets or make informed food choices. </a:t>
            </a:r>
          </a:p>
          <a:p>
            <a:pPr fontAlgn="base"/>
            <a:endParaRPr lang="en-US" dirty="0"/>
          </a:p>
          <a:p>
            <a:pPr fontAlgn="base"/>
            <a:r>
              <a:rPr lang="en-US" b="1" dirty="0"/>
              <a:t>The Objective</a:t>
            </a:r>
            <a:r>
              <a:rPr lang="en-US" dirty="0"/>
              <a:t> </a:t>
            </a:r>
          </a:p>
          <a:p>
            <a:pPr fontAlgn="base"/>
            <a:r>
              <a:rPr lang="en-US" dirty="0"/>
              <a:t>Build an </a:t>
            </a:r>
            <a:r>
              <a:rPr lang="en-US" b="1" dirty="0"/>
              <a:t>AI-powered Nutrition Agent</a:t>
            </a:r>
            <a:r>
              <a:rPr lang="en-US" dirty="0"/>
              <a:t> that delivers </a:t>
            </a:r>
            <a:r>
              <a:rPr lang="en-US" b="1" dirty="0"/>
              <a:t>personalized dietary insights and guidance</a:t>
            </a:r>
            <a:r>
              <a:rPr lang="en-US" dirty="0"/>
              <a:t> for individuals, families, and health professionals. The solution should: </a:t>
            </a:r>
          </a:p>
          <a:p>
            <a:pPr marL="285750" indent="-285750" fontAlgn="base">
              <a:buFont typeface="Arial" panose="020B0604020202020204" pitchFamily="34" charset="0"/>
              <a:buChar char="•"/>
            </a:pPr>
            <a:r>
              <a:rPr lang="en-US" b="1" dirty="0"/>
              <a:t>Personalized Diet Plans</a:t>
            </a:r>
            <a:r>
              <a:rPr lang="en-US" dirty="0"/>
              <a:t> – Recommend meals based on age, health conditions, allergies, cultural preferences, and fitness goals. </a:t>
            </a:r>
          </a:p>
          <a:p>
            <a:pPr marL="285750" indent="-285750" fontAlgn="base">
              <a:buFont typeface="Arial" panose="020B0604020202020204" pitchFamily="34" charset="0"/>
              <a:buChar char="•"/>
            </a:pPr>
            <a:r>
              <a:rPr lang="en-US" b="1" dirty="0"/>
              <a:t>Food Data RAG Retrieval</a:t>
            </a:r>
            <a:r>
              <a:rPr lang="en-US" dirty="0"/>
              <a:t> – Fetch and summarize nutritional values (calories, macros, vitamins) from reliable sources. </a:t>
            </a:r>
          </a:p>
          <a:p>
            <a:pPr marL="285750" indent="-285750" fontAlgn="base">
              <a:buFont typeface="Arial" panose="020B0604020202020204" pitchFamily="34" charset="0"/>
              <a:buChar char="•"/>
            </a:pPr>
            <a:r>
              <a:rPr lang="en-US" b="1" dirty="0"/>
              <a:t>Diet Tracking &amp; Feedback</a:t>
            </a:r>
            <a:r>
              <a:rPr lang="en-US" dirty="0"/>
              <a:t> – Allow users to log meals via text, images, or voice, and provide instant nutritional analysis. </a:t>
            </a:r>
          </a:p>
          <a:p>
            <a:pPr marL="285750" indent="-285750" fontAlgn="base">
              <a:buFont typeface="Arial" panose="020B0604020202020204" pitchFamily="34" charset="0"/>
              <a:buChar char="•"/>
            </a:pPr>
            <a:r>
              <a:rPr lang="en-US" b="1" dirty="0"/>
              <a:t>Preventive Health Focus</a:t>
            </a:r>
            <a:r>
              <a:rPr lang="en-US" dirty="0"/>
              <a:t> – Suggest diets for chronic disease management (e.g., diabetes-friendly or heart-healthy plans).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Nutrition Knowledge Agent</a:t>
            </a:r>
            <a:r>
              <a:rPr lang="en-US" dirty="0"/>
              <a:t> (fetches nutritional data) </a:t>
            </a:r>
          </a:p>
          <a:p>
            <a:pPr marL="285750" indent="-285750" fontAlgn="base">
              <a:buFont typeface="Arial" panose="020B0604020202020204" pitchFamily="34" charset="0"/>
              <a:buChar char="•"/>
            </a:pPr>
            <a:r>
              <a:rPr lang="en-US" b="1" dirty="0"/>
              <a:t>Diet Recommendation Agent</a:t>
            </a:r>
            <a:r>
              <a:rPr lang="en-US" dirty="0"/>
              <a:t> (personalized meal plans) </a:t>
            </a:r>
          </a:p>
          <a:p>
            <a:pPr marL="285750" indent="-285750" fontAlgn="base">
              <a:buFont typeface="Arial" panose="020B0604020202020204" pitchFamily="34" charset="0"/>
              <a:buChar char="•"/>
            </a:pPr>
            <a:r>
              <a:rPr lang="en-US" b="1" dirty="0"/>
              <a:t>Health Advisory Agent</a:t>
            </a:r>
            <a:r>
              <a:rPr lang="en-US" dirty="0"/>
              <a:t> (preventive health suggestions) </a:t>
            </a:r>
          </a:p>
          <a:p>
            <a:pPr marL="285750" indent="-285750" fontAlgn="base">
              <a:buFont typeface="Arial" panose="020B0604020202020204" pitchFamily="34" charset="0"/>
              <a:buChar char="•"/>
            </a:pPr>
            <a:r>
              <a:rPr lang="en-US" b="1" dirty="0"/>
              <a:t>Food Log &amp; Feedback Agent</a:t>
            </a:r>
            <a:r>
              <a:rPr lang="en-US" dirty="0"/>
              <a:t> (meal tracking + analysis) </a:t>
            </a:r>
          </a:p>
          <a:p>
            <a:pPr marL="285750" indent="-285750" fontAlgn="base">
              <a:buFont typeface="Arial" panose="020B0604020202020204" pitchFamily="34" charset="0"/>
              <a:buChar char="•"/>
            </a:pPr>
            <a:r>
              <a:rPr lang="en-US" b="1" dirty="0"/>
              <a:t>Visualization Dashboard</a:t>
            </a:r>
            <a:r>
              <a:rPr lang="en-US" dirty="0"/>
              <a:t> – Show daily/weekly nutrient intake, deficiencies, and progress toward health goals.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856357"/>
            <a:ext cx="11336010" cy="6247864"/>
          </a:xfrm>
          <a:prstGeom prst="rect">
            <a:avLst/>
          </a:prstGeom>
          <a:noFill/>
        </p:spPr>
        <p:txBody>
          <a:bodyPr wrap="square" rtlCol="0">
            <a:spAutoFit/>
          </a:bodyPr>
          <a:lstStyle/>
          <a:p>
            <a:r>
              <a:rPr lang="en-US" sz="1600" b="1" dirty="0"/>
              <a:t>Proposed Solution: AI-Powered Nutrition Agent</a:t>
            </a:r>
          </a:p>
          <a:p>
            <a:endParaRPr lang="en-US" sz="1600" b="1" dirty="0"/>
          </a:p>
          <a:p>
            <a:r>
              <a:rPr lang="en-IN" sz="1600" dirty="0"/>
              <a:t>The proposed solution is an </a:t>
            </a:r>
            <a:r>
              <a:rPr lang="en-IN" sz="1600" b="1" dirty="0"/>
              <a:t>AI-powered Nutrition Agent</a:t>
            </a:r>
            <a:r>
              <a:rPr lang="en-IN" sz="1600" dirty="0"/>
              <a:t> built using </a:t>
            </a:r>
            <a:r>
              <a:rPr lang="en-IN" sz="1600" b="1" dirty="0"/>
              <a:t>IBM Cloud Lite, IBM watsonx.ai, and Llama models</a:t>
            </a:r>
            <a:r>
              <a:rPr lang="en-IN" sz="1600" dirty="0"/>
              <a:t> to provide personalized nutrition guidance.</a:t>
            </a:r>
          </a:p>
          <a:p>
            <a:endParaRPr lang="en-IN" sz="1600" dirty="0"/>
          </a:p>
          <a:p>
            <a:r>
              <a:rPr lang="en-IN" sz="1600" dirty="0"/>
              <a:t>The system helps users with </a:t>
            </a:r>
            <a:r>
              <a:rPr lang="en-IN" sz="1600" b="1" dirty="0"/>
              <a:t>diet planning, calorie estimation, BMI calculation, food recommendations, and personalized meal suggestions</a:t>
            </a:r>
            <a:r>
              <a:rPr lang="en-IN" sz="1600" dirty="0"/>
              <a:t> based on their profile, dietary preferences, activity level, and health goals.</a:t>
            </a:r>
          </a:p>
          <a:p>
            <a:endParaRPr lang="en-IN" sz="1600" dirty="0"/>
          </a:p>
          <a:p>
            <a:r>
              <a:rPr lang="en-IN" sz="1600" dirty="0"/>
              <a:t>The application uses a conversational AI interface where users can ask nutrition-related questions and receive contextual responses. User profile information is used to make recommendations more relevant and personalized.</a:t>
            </a:r>
          </a:p>
          <a:p>
            <a:r>
              <a:rPr lang="en-IN" sz="1600" dirty="0"/>
              <a:t>The system provides features such as:</a:t>
            </a:r>
          </a:p>
          <a:p>
            <a:endParaRPr lang="en-IN" sz="1600" dirty="0"/>
          </a:p>
          <a:p>
            <a:pPr marL="285750" indent="-285750">
              <a:buFont typeface="Arial" panose="020B0604020202020204" pitchFamily="34" charset="0"/>
              <a:buChar char="•"/>
            </a:pPr>
            <a:r>
              <a:rPr lang="en-IN" sz="1600" b="1" dirty="0"/>
              <a:t>Personalized Diet Planning</a:t>
            </a:r>
            <a:r>
              <a:rPr lang="en-IN" sz="1600" dirty="0"/>
              <a:t> – Generates meal plans according to user goals and dietary preferences.</a:t>
            </a:r>
          </a:p>
          <a:p>
            <a:pPr marL="285750" indent="-285750">
              <a:buFont typeface="Arial" panose="020B0604020202020204" pitchFamily="34" charset="0"/>
              <a:buChar char="•"/>
            </a:pPr>
            <a:r>
              <a:rPr lang="en-IN" sz="1600" b="1" dirty="0"/>
              <a:t>Nutrition Assistance</a:t>
            </a:r>
            <a:r>
              <a:rPr lang="en-IN" sz="1600" dirty="0"/>
              <a:t> – Answers food and nutrition-related questions using the AI model.</a:t>
            </a:r>
          </a:p>
          <a:p>
            <a:pPr marL="285750" indent="-285750">
              <a:buFont typeface="Arial" panose="020B0604020202020204" pitchFamily="34" charset="0"/>
              <a:buChar char="•"/>
            </a:pPr>
            <a:r>
              <a:rPr lang="en-IN" sz="1600" b="1" dirty="0"/>
              <a:t>BMI &amp; Calorie Estimation</a:t>
            </a:r>
            <a:r>
              <a:rPr lang="en-IN" sz="1600" dirty="0"/>
              <a:t> – Calculates BMI and estimates daily calorie requirements.</a:t>
            </a:r>
          </a:p>
          <a:p>
            <a:pPr marL="285750" indent="-285750">
              <a:buFont typeface="Arial" panose="020B0604020202020204" pitchFamily="34" charset="0"/>
              <a:buChar char="•"/>
            </a:pPr>
            <a:r>
              <a:rPr lang="en-IN" sz="1600" b="1" dirty="0"/>
              <a:t>Personalized Recommendations</a:t>
            </a:r>
            <a:r>
              <a:rPr lang="en-IN" sz="1600" dirty="0"/>
              <a:t> – Considers age, height, weight, activity level, diet type, and fitness goals.</a:t>
            </a:r>
          </a:p>
          <a:p>
            <a:pPr marL="285750" indent="-285750">
              <a:buFont typeface="Arial" panose="020B0604020202020204" pitchFamily="34" charset="0"/>
              <a:buChar char="•"/>
            </a:pPr>
            <a:r>
              <a:rPr lang="en-IN" sz="1600" b="1" dirty="0"/>
              <a:t>Interactive Web Interface</a:t>
            </a:r>
            <a:r>
              <a:rPr lang="en-IN" sz="1600" dirty="0"/>
              <a:t> – Provides chat, quick prompts, profile management, diet planning, and health calculation features.</a:t>
            </a:r>
          </a:p>
          <a:p>
            <a:pPr marL="285750" indent="-285750">
              <a:buFont typeface="Arial" panose="020B0604020202020204" pitchFamily="34" charset="0"/>
              <a:buChar char="•"/>
            </a:pPr>
            <a:r>
              <a:rPr lang="en-IN" sz="1600" b="1" dirty="0"/>
              <a:t>IBM Cloud Integration</a:t>
            </a:r>
            <a:r>
              <a:rPr lang="en-IN" sz="1600" dirty="0"/>
              <a:t> – Uses IBM watsonx.ai for AI-powered responses and integrates the application with IBM Cloud services.</a:t>
            </a:r>
          </a:p>
          <a:p>
            <a:endParaRPr lang="en-IN" sz="1600" dirty="0"/>
          </a:p>
          <a:p>
            <a:r>
              <a:rPr lang="en-IN" sz="1600" dirty="0"/>
              <a:t>Overall, the solution provides a </a:t>
            </a:r>
            <a:r>
              <a:rPr lang="en-IN" sz="1600" b="1" dirty="0"/>
              <a:t>personalized digital nutrition assistant</a:t>
            </a:r>
            <a:r>
              <a:rPr lang="en-IN" sz="1600" dirty="0"/>
              <a:t> that helps users make better-informed dietary choices.</a:t>
            </a:r>
          </a:p>
          <a:p>
            <a:pPr fontAlgn="base"/>
            <a:endParaRPr lang="en-US" sz="1600" dirty="0"/>
          </a:p>
          <a:p>
            <a:endParaRPr lang="en-IN" sz="16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312203"/>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4C6FEBF2-2C4E-9991-6699-A92F5D2126CB}"/>
              </a:ext>
            </a:extLst>
          </p:cNvPr>
          <p:cNvPicPr>
            <a:picLocks noChangeAspect="1"/>
          </p:cNvPicPr>
          <p:nvPr/>
        </p:nvPicPr>
        <p:blipFill>
          <a:blip r:embed="rId3"/>
          <a:stretch>
            <a:fillRect/>
          </a:stretch>
        </p:blipFill>
        <p:spPr>
          <a:xfrm>
            <a:off x="537590" y="727788"/>
            <a:ext cx="11057251" cy="5635690"/>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06A0E9B5-82A9-0A03-3F07-EDC9F36ABADA}"/>
              </a:ext>
            </a:extLst>
          </p:cNvPr>
          <p:cNvPicPr>
            <a:picLocks noChangeAspect="1"/>
          </p:cNvPicPr>
          <p:nvPr/>
        </p:nvPicPr>
        <p:blipFill>
          <a:blip r:embed="rId3"/>
          <a:srcRect l="-2874" t="-7601" r="222" b="7601"/>
          <a:stretch>
            <a:fillRect/>
          </a:stretch>
        </p:blipFill>
        <p:spPr>
          <a:xfrm>
            <a:off x="223935" y="687430"/>
            <a:ext cx="11430475" cy="548314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D0CB4F-B90A-E8D0-19A9-B86A95BB984B}"/>
              </a:ext>
            </a:extLst>
          </p:cNvPr>
          <p:cNvPicPr>
            <a:picLocks noChangeAspect="1"/>
          </p:cNvPicPr>
          <p:nvPr/>
        </p:nvPicPr>
        <p:blipFill>
          <a:blip r:embed="rId2"/>
          <a:stretch>
            <a:fillRect/>
          </a:stretch>
        </p:blipFill>
        <p:spPr>
          <a:xfrm>
            <a:off x="628261" y="510073"/>
            <a:ext cx="10992808" cy="585340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90" y="1053082"/>
            <a:ext cx="10550792" cy="42760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01320" y="1065336"/>
            <a:ext cx="7406640" cy="5509200"/>
          </a:xfrm>
          <a:prstGeom prst="rect">
            <a:avLst/>
          </a:prstGeom>
          <a:noFill/>
        </p:spPr>
        <p:txBody>
          <a:bodyPr wrap="square" rtlCol="0">
            <a:spAutoFit/>
          </a:bodyPr>
          <a:lstStyle/>
          <a:p>
            <a:r>
              <a:rPr lang="en-US" sz="1600" b="1" dirty="0"/>
              <a:t>Role of Agentic AI in Nutrition Agent</a:t>
            </a:r>
          </a:p>
          <a:p>
            <a:r>
              <a:rPr lang="en-US" sz="1600" b="1" dirty="0"/>
              <a:t>Agentic AI</a:t>
            </a:r>
            <a:r>
              <a:rPr lang="en-US" sz="1600" dirty="0"/>
              <a:t> enables the Nutrition Agent to function as an intelligent, autonomous system rather than a simple chatbot. Using </a:t>
            </a:r>
            <a:r>
              <a:rPr lang="en-US" sz="1600" b="1" dirty="0"/>
              <a:t>IBM watsonx.ai</a:t>
            </a:r>
            <a:r>
              <a:rPr lang="en-US" sz="1600" dirty="0"/>
              <a:t> and </a:t>
            </a:r>
            <a:r>
              <a:rPr lang="en-US" sz="1600" b="1" dirty="0"/>
              <a:t>IBM Granite models</a:t>
            </a:r>
            <a:r>
              <a:rPr lang="en-US" sz="1600" dirty="0"/>
              <a:t>, it coordinates multiple specialized agents to deliver personalized nutrition guidance.</a:t>
            </a:r>
          </a:p>
          <a:p>
            <a:endParaRPr lang="en-US" sz="1600" dirty="0"/>
          </a:p>
          <a:p>
            <a:r>
              <a:rPr lang="en-US" sz="1600" dirty="0"/>
              <a:t>Each agent performs a specific role—such as retrieving nutritional data, generating diet plans, providing health advice, and analyzing food logs—while working collaboratively. This </a:t>
            </a:r>
            <a:r>
              <a:rPr lang="en-US" sz="1600" b="1" dirty="0"/>
              <a:t>multi-agent approach</a:t>
            </a:r>
            <a:r>
              <a:rPr lang="en-US" sz="1600" dirty="0"/>
              <a:t> ensures efficient task execution and accurate results.</a:t>
            </a:r>
          </a:p>
          <a:p>
            <a:endParaRPr lang="en-US" sz="1600" dirty="0"/>
          </a:p>
          <a:p>
            <a:r>
              <a:rPr lang="en-US" sz="1600" dirty="0"/>
              <a:t>Agentic AI also brings </a:t>
            </a:r>
            <a:r>
              <a:rPr lang="en-US" sz="1600" b="1" dirty="0"/>
              <a:t>context awareness</a:t>
            </a:r>
            <a:r>
              <a:rPr lang="en-US" sz="1600" dirty="0"/>
              <a:t>, understanding user details like age, health conditions, and fitness goals to generate tailored recommendations. It supports </a:t>
            </a:r>
            <a:r>
              <a:rPr lang="en-US" sz="1600" b="1" dirty="0"/>
              <a:t>real-time adaptation</a:t>
            </a:r>
            <a:r>
              <a:rPr lang="en-US" sz="1600" dirty="0"/>
              <a:t>, continuously updating suggestions based on user inputs like daily meals.</a:t>
            </a:r>
          </a:p>
          <a:p>
            <a:endParaRPr lang="en-US" sz="1600" dirty="0"/>
          </a:p>
          <a:p>
            <a:r>
              <a:rPr lang="en-US" sz="1600" dirty="0"/>
              <a:t>Additionally, agents communicate with each other, enabling better decision-making and improved outcomes.</a:t>
            </a:r>
          </a:p>
          <a:p>
            <a:endParaRPr lang="en-US" sz="1600" dirty="0"/>
          </a:p>
          <a:p>
            <a:r>
              <a:rPr lang="en-US" sz="1600" dirty="0"/>
              <a:t>Overall, Agentic AI makes the system proactive, personalized, and goal-driven, acting like a </a:t>
            </a:r>
            <a:r>
              <a:rPr lang="en-US" sz="1600" b="1" dirty="0"/>
              <a:t>smart digital nutritionist</a:t>
            </a:r>
            <a:r>
              <a:rPr lang="en-US" sz="1600" dirty="0"/>
              <a:t> that helps users maintain a healthy lifestyle.</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dirty="0"/>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755C1A70-7863-ABB7-7B4C-5EBD208A1871}"/>
              </a:ext>
            </a:extLst>
          </p:cNvPr>
          <p:cNvPicPr>
            <a:picLocks noChangeAspect="1"/>
          </p:cNvPicPr>
          <p:nvPr/>
        </p:nvPicPr>
        <p:blipFill>
          <a:blip r:embed="rId3"/>
          <a:stretch>
            <a:fillRect/>
          </a:stretch>
        </p:blipFill>
        <p:spPr>
          <a:xfrm>
            <a:off x="584263" y="2235959"/>
            <a:ext cx="5175092" cy="3830471"/>
          </a:xfrm>
          <a:prstGeom prst="rect">
            <a:avLst/>
          </a:prstGeom>
        </p:spPr>
      </p:pic>
      <p:pic>
        <p:nvPicPr>
          <p:cNvPr id="6" name="Picture 5">
            <a:extLst>
              <a:ext uri="{FF2B5EF4-FFF2-40B4-BE49-F238E27FC236}">
                <a16:creationId xmlns:a16="http://schemas.microsoft.com/office/drawing/2014/main" id="{158932DD-6A36-6C91-DAB9-36D9933373F3}"/>
              </a:ext>
            </a:extLst>
          </p:cNvPr>
          <p:cNvPicPr>
            <a:picLocks noChangeAspect="1"/>
          </p:cNvPicPr>
          <p:nvPr/>
        </p:nvPicPr>
        <p:blipFill>
          <a:blip r:embed="rId4"/>
          <a:stretch>
            <a:fillRect/>
          </a:stretch>
        </p:blipFill>
        <p:spPr>
          <a:xfrm>
            <a:off x="6304058" y="2211028"/>
            <a:ext cx="5214652" cy="383047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37F6CA42-A232-221B-5330-D4BBE6DF4905}"/>
              </a:ext>
            </a:extLst>
          </p:cNvPr>
          <p:cNvPicPr>
            <a:picLocks noChangeAspect="1"/>
          </p:cNvPicPr>
          <p:nvPr/>
        </p:nvPicPr>
        <p:blipFill>
          <a:blip r:embed="rId3"/>
          <a:stretch>
            <a:fillRect/>
          </a:stretch>
        </p:blipFill>
        <p:spPr>
          <a:xfrm>
            <a:off x="859809" y="816977"/>
            <a:ext cx="10665726" cy="555652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4E03328A-C85A-CE03-B6F4-E0BD0D45E7CB}"/>
              </a:ext>
            </a:extLst>
          </p:cNvPr>
          <p:cNvPicPr>
            <a:picLocks noChangeAspect="1"/>
          </p:cNvPicPr>
          <p:nvPr/>
        </p:nvPicPr>
        <p:blipFill>
          <a:blip r:embed="rId3"/>
          <a:stretch>
            <a:fillRect/>
          </a:stretch>
        </p:blipFill>
        <p:spPr>
          <a:xfrm>
            <a:off x="464024" y="816977"/>
            <a:ext cx="11211636" cy="563841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A1E40271-8ADB-00DE-2341-B6CF471CFC53}"/>
              </a:ext>
            </a:extLst>
          </p:cNvPr>
          <p:cNvPicPr>
            <a:picLocks noChangeAspect="1"/>
          </p:cNvPicPr>
          <p:nvPr/>
        </p:nvPicPr>
        <p:blipFill>
          <a:blip r:embed="rId3"/>
          <a:stretch>
            <a:fillRect/>
          </a:stretch>
        </p:blipFill>
        <p:spPr>
          <a:xfrm>
            <a:off x="764274" y="757451"/>
            <a:ext cx="10781731" cy="5500048"/>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445008" y="1295055"/>
            <a:ext cx="11301984" cy="5078313"/>
          </a:xfrm>
          <a:prstGeom prst="rect">
            <a:avLst/>
          </a:prstGeom>
          <a:noFill/>
        </p:spPr>
        <p:txBody>
          <a:bodyPr wrap="square" rtlCol="0">
            <a:spAutoFit/>
          </a:bodyPr>
          <a:lstStyle/>
          <a:p>
            <a:pPr marL="285750" indent="-285750">
              <a:buFont typeface="Arial" panose="020B0604020202020204" pitchFamily="34" charset="0"/>
              <a:buChar char="•"/>
            </a:pPr>
            <a:r>
              <a:rPr lang="en-IN" sz="1800" dirty="0" err="1"/>
              <a:t>NutriAI</a:t>
            </a:r>
            <a:r>
              <a:rPr lang="en-IN" sz="1800" dirty="0"/>
              <a:t> stands out by combining </a:t>
            </a:r>
            <a:r>
              <a:rPr lang="en-IN" sz="1800" b="1" dirty="0"/>
              <a:t>AI-powered nutrition assistance, personalization, and practical health calculations</a:t>
            </a:r>
            <a:r>
              <a:rPr lang="en-IN" sz="1800" dirty="0"/>
              <a:t> into a single intelligent web application.</a:t>
            </a:r>
          </a:p>
          <a:p>
            <a:pPr marL="285750" indent="-285750">
              <a:buFont typeface="Arial" panose="020B0604020202020204" pitchFamily="34" charset="0"/>
              <a:buChar char="•"/>
            </a:pPr>
            <a:r>
              <a:rPr lang="en-IN" sz="1800" b="1" dirty="0"/>
              <a:t>AI-Powered Nutrition Assistance</a:t>
            </a:r>
            <a:r>
              <a:rPr lang="en-IN" sz="1800" dirty="0"/>
              <a:t> – Uses IBM watsonx.ai with an LLM to provide conversational nutrition guidance.</a:t>
            </a:r>
          </a:p>
          <a:p>
            <a:pPr marL="285750" indent="-285750">
              <a:buFont typeface="Arial" panose="020B0604020202020204" pitchFamily="34" charset="0"/>
              <a:buChar char="•"/>
            </a:pPr>
            <a:r>
              <a:rPr lang="en-IN" sz="1800" b="1" dirty="0"/>
              <a:t>Personalized Recommendations</a:t>
            </a:r>
            <a:r>
              <a:rPr lang="en-IN" sz="1800" dirty="0"/>
              <a:t> – Generates diet suggestions based on the user's age, height, weight, activity level, dietary preference, and fitness goal.</a:t>
            </a:r>
          </a:p>
          <a:p>
            <a:pPr marL="285750" indent="-285750">
              <a:buFont typeface="Arial" panose="020B0604020202020204" pitchFamily="34" charset="0"/>
              <a:buChar char="•"/>
            </a:pPr>
            <a:r>
              <a:rPr lang="en-IN" sz="1800" b="1" dirty="0"/>
              <a:t>Integrated Health Calculations</a:t>
            </a:r>
            <a:r>
              <a:rPr lang="en-IN" sz="1800" dirty="0"/>
              <a:t> – Provides BMI and daily calorie estimation to support personalized nutrition planning.</a:t>
            </a:r>
          </a:p>
          <a:p>
            <a:pPr marL="285750" indent="-285750">
              <a:buFont typeface="Arial" panose="020B0604020202020204" pitchFamily="34" charset="0"/>
              <a:buChar char="•"/>
            </a:pPr>
            <a:r>
              <a:rPr lang="en-IN" sz="1800" b="1" dirty="0"/>
              <a:t>Interactive Diet Planning</a:t>
            </a:r>
            <a:r>
              <a:rPr lang="en-IN" sz="1800" dirty="0"/>
              <a:t> – Helps users generate one-day, weight-loss, weight-gain, and high-protein meal recommendations.</a:t>
            </a:r>
          </a:p>
          <a:p>
            <a:pPr marL="285750" indent="-285750">
              <a:buFont typeface="Arial" panose="020B0604020202020204" pitchFamily="34" charset="0"/>
              <a:buChar char="•"/>
            </a:pPr>
            <a:r>
              <a:rPr lang="en-IN" sz="1800" b="1" dirty="0"/>
              <a:t>User Profile &amp; Context</a:t>
            </a:r>
            <a:r>
              <a:rPr lang="en-IN" sz="1800" dirty="0"/>
              <a:t> – Uses the user's saved profile information to make responses more relevant and personalized.</a:t>
            </a:r>
          </a:p>
          <a:p>
            <a:pPr marL="285750" indent="-285750">
              <a:buFont typeface="Arial" panose="020B0604020202020204" pitchFamily="34" charset="0"/>
              <a:buChar char="•"/>
            </a:pPr>
            <a:r>
              <a:rPr lang="en-IN" sz="1800" b="1" dirty="0"/>
              <a:t>Modern Web Interface</a:t>
            </a:r>
            <a:r>
              <a:rPr lang="en-IN" sz="1800" dirty="0"/>
              <a:t> – Provides an interactive, responsive interface with chat, quick prompts, profile management, and theme support.</a:t>
            </a:r>
          </a:p>
          <a:p>
            <a:pPr marL="285750" indent="-285750">
              <a:buFont typeface="Arial" panose="020B0604020202020204" pitchFamily="34" charset="0"/>
              <a:buChar char="•"/>
            </a:pPr>
            <a:r>
              <a:rPr lang="en-IN" sz="1800" b="1" dirty="0"/>
              <a:t>IBM Cloud Integration</a:t>
            </a:r>
            <a:r>
              <a:rPr lang="en-IN" sz="1800" dirty="0"/>
              <a:t> – Built using </a:t>
            </a:r>
            <a:r>
              <a:rPr lang="en-IN" sz="1800" b="1" dirty="0"/>
              <a:t>IBM watsonx.ai</a:t>
            </a:r>
            <a:r>
              <a:rPr lang="en-IN" sz="1800" dirty="0"/>
              <a:t> for AI-powered responses.</a:t>
            </a:r>
          </a:p>
          <a:p>
            <a:pPr marL="285750" indent="-285750">
              <a:buFont typeface="Arial" panose="020B0604020202020204" pitchFamily="34" charset="0"/>
              <a:buChar char="•"/>
            </a:pPr>
            <a:r>
              <a:rPr lang="en-IN" sz="1800" dirty="0"/>
              <a:t>This makes </a:t>
            </a:r>
            <a:r>
              <a:rPr lang="en-IN" sz="1800" dirty="0" err="1"/>
              <a:t>NutriAI</a:t>
            </a:r>
            <a:r>
              <a:rPr lang="en-IN" sz="1800" dirty="0"/>
              <a:t> a </a:t>
            </a:r>
            <a:r>
              <a:rPr lang="en-IN" sz="1800" b="1" dirty="0"/>
              <a:t>practical and personalized digital nutrition assistant</a:t>
            </a:r>
            <a:r>
              <a:rPr lang="en-IN" sz="1800" dirty="0"/>
              <a:t>, rather than a simple static diet recommendation tool.</a:t>
            </a:r>
          </a:p>
          <a:p>
            <a:endParaRPr lang="en-IN" sz="1800" dirty="0"/>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Click Here</a:t>
            </a:r>
            <a:endParaRPr lang="en-US" sz="1850" dirty="0">
              <a:solidFill>
                <a:srgbClr val="2B354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lvl="0">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https://github.com/Yashveer005/NutriAI</a:t>
            </a:r>
            <a:endParaRPr lang="en-US" sz="1850" dirty="0">
              <a:solidFill>
                <a:srgbClr val="2B3541"/>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75563" y="1124746"/>
            <a:ext cx="10965976" cy="5513455"/>
          </a:xfrm>
          <a:prstGeom prst="rect">
            <a:avLst/>
          </a:prstGeom>
          <a:noFill/>
          <a:ln>
            <a:noFill/>
          </a:ln>
        </p:spPr>
        <p:txBody>
          <a:bodyPr spcFirstLastPara="1" wrap="square" lIns="0" tIns="0" rIns="0" bIns="0" anchor="t" anchorCtr="0">
            <a:noAutofit/>
          </a:bodyPr>
          <a:lstStyle/>
          <a:p>
            <a:pPr marL="342900" indent="-342900">
              <a:buAutoNum type="arabicPeriod"/>
            </a:pPr>
            <a:r>
              <a:rPr lang="en-IN" sz="1800" b="1" dirty="0"/>
              <a:t>Integration with Wearables &amp; Health Devices –</a:t>
            </a:r>
            <a:br>
              <a:rPr lang="en-IN" sz="1800" dirty="0"/>
            </a:br>
            <a:r>
              <a:rPr lang="en-IN" sz="1800" dirty="0" err="1"/>
              <a:t>NutriAI</a:t>
            </a:r>
            <a:r>
              <a:rPr lang="en-IN" sz="1800" dirty="0"/>
              <a:t> can be integrated with smartwatches and fitness trackers to collect health and activity data such as steps, calories burned, heart rate, and sleep patterns. This can help generate more dynamic and personalized nutrition recommendations.</a:t>
            </a:r>
          </a:p>
          <a:p>
            <a:pPr marL="342900" indent="-342900">
              <a:buAutoNum type="arabicPeriod"/>
            </a:pPr>
            <a:endParaRPr lang="en-IN" sz="1800" dirty="0"/>
          </a:p>
          <a:p>
            <a:r>
              <a:rPr lang="en-IN" sz="1800" b="1" dirty="0"/>
              <a:t>2. AI-Powered Voice Assistant &amp; Multilingual Support –</a:t>
            </a:r>
            <a:br>
              <a:rPr lang="en-IN" sz="1800" dirty="0"/>
            </a:br>
            <a:r>
              <a:rPr lang="en-IN" sz="1800" dirty="0"/>
              <a:t>Future versions can include voice-based interaction and multilingual support, allowing users to communicate with </a:t>
            </a:r>
            <a:r>
              <a:rPr lang="en-IN" sz="1800" dirty="0" err="1"/>
              <a:t>NutriAI</a:t>
            </a:r>
            <a:r>
              <a:rPr lang="en-IN" sz="1800" dirty="0"/>
              <a:t> in their preferred language and improving accessibility.</a:t>
            </a:r>
          </a:p>
          <a:p>
            <a:endParaRPr lang="en-IN" sz="1800" dirty="0"/>
          </a:p>
          <a:p>
            <a:r>
              <a:rPr lang="en-IN" sz="1800" b="1" dirty="0"/>
              <a:t>3. Advanced Nutrition Knowledge Base –</a:t>
            </a:r>
            <a:br>
              <a:rPr lang="en-IN" sz="1800" dirty="0"/>
            </a:br>
            <a:r>
              <a:rPr lang="en-IN" sz="1800" dirty="0"/>
              <a:t>A larger and regularly updated nutrition database can be integrated to provide more accurate information about foods, nutrients, calories, and meal recommendations.</a:t>
            </a:r>
          </a:p>
          <a:p>
            <a:endParaRPr lang="en-IN" sz="1800" dirty="0"/>
          </a:p>
          <a:p>
            <a:r>
              <a:rPr lang="en-IN" sz="1800" b="1" dirty="0"/>
              <a:t>4. Meal Image Analysis –</a:t>
            </a:r>
            <a:br>
              <a:rPr lang="en-IN" sz="1800" dirty="0"/>
            </a:br>
            <a:r>
              <a:rPr lang="en-IN" sz="1800" dirty="0"/>
              <a:t>Computer vision can be added to identify food items from meal images and estimate their nutritional values.</a:t>
            </a:r>
          </a:p>
          <a:p>
            <a:endParaRPr lang="en-IN" sz="1800" dirty="0"/>
          </a:p>
          <a:p>
            <a:r>
              <a:rPr lang="en-IN" sz="1800" b="1" dirty="0"/>
              <a:t>5. Progress Tracking &amp; Adaptive Recommendations –</a:t>
            </a:r>
            <a:br>
              <a:rPr lang="en-IN" sz="1800" dirty="0"/>
            </a:br>
            <a:r>
              <a:rPr lang="en-IN" sz="1800" dirty="0"/>
              <a:t>Future versions can track users' nutrition and fitness progress over time and automatically adapt diet recommendations according to their changing goals and activity levels.</a:t>
            </a:r>
          </a:p>
          <a:p>
            <a:pPr marL="0" marR="0" lvl="0" indent="0" algn="l" rtl="0">
              <a:lnSpc>
                <a:spcPct val="162162"/>
              </a:lnSpc>
              <a:spcBef>
                <a:spcPts val="0"/>
              </a:spcBef>
              <a:spcAft>
                <a:spcPts val="0"/>
              </a:spcAft>
              <a:buClr>
                <a:srgbClr val="2B3541"/>
              </a:buClr>
              <a:buSzPts val="1850"/>
              <a:buFont typeface="Times New Roman"/>
              <a:buNone/>
            </a:pPr>
            <a:endParaRPr sz="18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pic>
        <p:nvPicPr>
          <p:cNvPr id="4" name="Picture 3">
            <a:extLst>
              <a:ext uri="{FF2B5EF4-FFF2-40B4-BE49-F238E27FC236}">
                <a16:creationId xmlns:a16="http://schemas.microsoft.com/office/drawing/2014/main" id="{E0E75B68-D78D-2426-0787-76ED85577CEC}"/>
              </a:ext>
            </a:extLst>
          </p:cNvPr>
          <p:cNvPicPr>
            <a:picLocks noChangeAspect="1"/>
          </p:cNvPicPr>
          <p:nvPr/>
        </p:nvPicPr>
        <p:blipFill>
          <a:blip r:embed="rId2"/>
          <a:stretch>
            <a:fillRect/>
          </a:stretch>
        </p:blipFill>
        <p:spPr>
          <a:xfrm>
            <a:off x="1627532" y="1367168"/>
            <a:ext cx="7448229" cy="5115519"/>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3" name="Picture 2">
            <a:extLst>
              <a:ext uri="{FF2B5EF4-FFF2-40B4-BE49-F238E27FC236}">
                <a16:creationId xmlns:a16="http://schemas.microsoft.com/office/drawing/2014/main" id="{AE9FB9F5-C069-2DBF-7F3E-E6DB51F6E19C}"/>
              </a:ext>
            </a:extLst>
          </p:cNvPr>
          <p:cNvPicPr>
            <a:picLocks noChangeAspect="1"/>
          </p:cNvPicPr>
          <p:nvPr/>
        </p:nvPicPr>
        <p:blipFill>
          <a:blip r:embed="rId2"/>
          <a:stretch>
            <a:fillRect/>
          </a:stretch>
        </p:blipFill>
        <p:spPr>
          <a:xfrm>
            <a:off x="1788945" y="1530397"/>
            <a:ext cx="8291157" cy="4768044"/>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TotalTime>
  <Words>1310</Words>
  <Application>Microsoft Office PowerPoint</Application>
  <PresentationFormat>Widescreen</PresentationFormat>
  <Paragraphs>138</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Yashveer Singh</cp:lastModifiedBy>
  <cp:revision>8</cp:revision>
  <dcterms:created xsi:type="dcterms:W3CDTF">2025-07-08T05:06:56Z</dcterms:created>
  <dcterms:modified xsi:type="dcterms:W3CDTF">2026-09-06T10:50:52Z</dcterms:modified>
</cp:coreProperties>
</file>